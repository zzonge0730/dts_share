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337" r:id="rId3"/>
    <p:sldId id="333" r:id="rId4"/>
    <p:sldId id="335" r:id="rId5"/>
    <p:sldId id="336" r:id="rId6"/>
    <p:sldId id="30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8C8985"/>
    <a:srgbClr val="386294"/>
    <a:srgbClr val="5483B7"/>
    <a:srgbClr val="3A5D8A"/>
    <a:srgbClr val="6882A5"/>
    <a:srgbClr val="BA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072" y="0"/>
            <a:ext cx="4850928" cy="6858000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 flipV="1">
            <a:off x="738435" y="1720142"/>
            <a:ext cx="4657349" cy="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57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347" y="6484578"/>
            <a:ext cx="2356022" cy="373422"/>
          </a:xfrm>
          <a:prstGeom prst="rect">
            <a:avLst/>
          </a:prstGeom>
        </p:spPr>
      </p:pic>
      <p:grpSp>
        <p:nvGrpSpPr>
          <p:cNvPr id="8" name="그룹 7"/>
          <p:cNvGrpSpPr/>
          <p:nvPr userDrawn="1"/>
        </p:nvGrpSpPr>
        <p:grpSpPr>
          <a:xfrm>
            <a:off x="-577" y="-1348"/>
            <a:ext cx="5819015" cy="524511"/>
            <a:chOff x="-577" y="-1348"/>
            <a:chExt cx="5819015" cy="524511"/>
          </a:xfrm>
        </p:grpSpPr>
        <p:sp>
          <p:nvSpPr>
            <p:cNvPr id="9" name="직사각형 8"/>
            <p:cNvSpPr/>
            <p:nvPr/>
          </p:nvSpPr>
          <p:spPr>
            <a:xfrm>
              <a:off x="4766784" y="0"/>
              <a:ext cx="380668" cy="255827"/>
            </a:xfrm>
            <a:prstGeom prst="rect">
              <a:avLst/>
            </a:prstGeom>
            <a:solidFill>
              <a:srgbClr val="C624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" name="그룹 9"/>
            <p:cNvGrpSpPr/>
            <p:nvPr/>
          </p:nvGrpSpPr>
          <p:grpSpPr>
            <a:xfrm>
              <a:off x="-577" y="-1348"/>
              <a:ext cx="5443266" cy="524511"/>
              <a:chOff x="534836" y="1863308"/>
              <a:chExt cx="4994241" cy="155274"/>
            </a:xfrm>
          </p:grpSpPr>
          <p:sp>
            <p:nvSpPr>
              <p:cNvPr id="13" name="직사각형 12"/>
              <p:cNvSpPr/>
              <p:nvPr/>
            </p:nvSpPr>
            <p:spPr>
              <a:xfrm>
                <a:off x="534836" y="1863308"/>
                <a:ext cx="4535187" cy="155274"/>
              </a:xfrm>
              <a:prstGeom prst="rect">
                <a:avLst/>
              </a:prstGeom>
              <a:solidFill>
                <a:srgbClr val="C624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평행 사변형 13"/>
              <p:cNvSpPr/>
              <p:nvPr/>
            </p:nvSpPr>
            <p:spPr>
              <a:xfrm>
                <a:off x="4754311" y="1863308"/>
                <a:ext cx="774766" cy="155274"/>
              </a:xfrm>
              <a:prstGeom prst="parallelogram">
                <a:avLst>
                  <a:gd name="adj" fmla="val 87901"/>
                </a:avLst>
              </a:prstGeom>
              <a:solidFill>
                <a:srgbClr val="A01B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평행 사변형 10"/>
            <p:cNvSpPr/>
            <p:nvPr/>
          </p:nvSpPr>
          <p:spPr>
            <a:xfrm>
              <a:off x="4535143" y="-1348"/>
              <a:ext cx="536604" cy="524511"/>
            </a:xfrm>
            <a:prstGeom prst="parallelogram">
              <a:avLst>
                <a:gd name="adj" fmla="val 879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52622" y="65683"/>
              <a:ext cx="566581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altLang="ko-KR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484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46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62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41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245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36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544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4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900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872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2FDAE-80AE-4088-B275-4840717DC96B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94DA0-D275-432B-AC83-1CC60D14C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84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/>
        </p:nvCxnSpPr>
        <p:spPr>
          <a:xfrm flipV="1">
            <a:off x="738435" y="1720142"/>
            <a:ext cx="4657349" cy="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510200" y="890384"/>
            <a:ext cx="712046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DTS 1</a:t>
            </a:r>
            <a:r>
              <a:rPr lang="ko-KR" altLang="en-US" sz="32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차 시연 예상 작업</a:t>
            </a:r>
            <a:endParaRPr lang="en-US" altLang="ko-KR" sz="3200" dirty="0">
              <a:ln>
                <a:solidFill>
                  <a:schemeClr val="tx1"/>
                </a:solidFill>
              </a:ln>
              <a:effectLst>
                <a:outerShdw blurRad="50800" dist="508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613965" y="1965126"/>
            <a:ext cx="28721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HAN-MECH CONTROLS CO. LTD</a:t>
            </a:r>
            <a:endParaRPr lang="ko-KR" altLang="en-US" sz="1400" dirty="0">
              <a:ln>
                <a:solidFill>
                  <a:schemeClr val="tx1"/>
                </a:solidFill>
              </a:ln>
              <a:effectLst>
                <a:outerShdw blurRad="50800" dist="508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8784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A004AF6D-0BBA-4F26-8BAC-45FE5086FD6E}"/>
              </a:ext>
            </a:extLst>
          </p:cNvPr>
          <p:cNvGrpSpPr/>
          <p:nvPr/>
        </p:nvGrpSpPr>
        <p:grpSpPr>
          <a:xfrm>
            <a:off x="804907" y="705602"/>
            <a:ext cx="10582183" cy="964094"/>
            <a:chOff x="803427" y="213064"/>
            <a:chExt cx="10582183" cy="108554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DF7C394-889E-4433-859D-C52EFBFFA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3427" y="226876"/>
              <a:ext cx="10582183" cy="1071730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357E3D9-1E1B-4407-BE0E-325FA078ED0C}"/>
                </a:ext>
              </a:extLst>
            </p:cNvPr>
            <p:cNvSpPr/>
            <p:nvPr/>
          </p:nvSpPr>
          <p:spPr>
            <a:xfrm>
              <a:off x="3932808" y="213064"/>
              <a:ext cx="2405848" cy="9144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직사각형 3"/>
          <p:cNvSpPr/>
          <p:nvPr/>
        </p:nvSpPr>
        <p:spPr>
          <a:xfrm>
            <a:off x="152622" y="65683"/>
            <a:ext cx="5665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예상 작업</a:t>
            </a:r>
            <a:endParaRPr lang="en-US" altLang="ko-KR" sz="2000" dirty="0">
              <a:ln>
                <a:solidFill>
                  <a:schemeClr val="tx1"/>
                </a:solidFill>
              </a:ln>
              <a:effectLst>
                <a:outerShdw blurRad="50800" dist="508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9EBA2FF-B7D6-4D06-AC42-D18994AF0A4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6586" y="1669696"/>
          <a:ext cx="11478827" cy="47310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6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357">
                  <a:extLst>
                    <a:ext uri="{9D8B030D-6E8A-4147-A177-3AD203B41FA5}">
                      <a16:colId xmlns:a16="http://schemas.microsoft.com/office/drawing/2014/main" val="3557834803"/>
                    </a:ext>
                  </a:extLst>
                </a:gridCol>
                <a:gridCol w="3186626">
                  <a:extLst>
                    <a:ext uri="{9D8B030D-6E8A-4147-A177-3AD203B41FA5}">
                      <a16:colId xmlns:a16="http://schemas.microsoft.com/office/drawing/2014/main" val="2107200875"/>
                    </a:ext>
                  </a:extLst>
                </a:gridCol>
                <a:gridCol w="2150333">
                  <a:extLst>
                    <a:ext uri="{9D8B030D-6E8A-4147-A177-3AD203B41FA5}">
                      <a16:colId xmlns:a16="http://schemas.microsoft.com/office/drawing/2014/main" val="876538895"/>
                    </a:ext>
                  </a:extLst>
                </a:gridCol>
              </a:tblGrid>
              <a:tr h="228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셋업</a:t>
                      </a:r>
                      <a:r>
                        <a:rPr lang="en-US" altLang="ko-KR" sz="1400" dirty="0"/>
                        <a:t>&amp;</a:t>
                      </a:r>
                      <a:r>
                        <a:rPr lang="ko-KR" altLang="en-US" sz="1400" dirty="0"/>
                        <a:t>테스트</a:t>
                      </a:r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좌표 송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수신 구현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및 테스트</a:t>
                      </a: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- 1</a:t>
                      </a:r>
                      <a:r>
                        <a:rPr lang="ko-KR" altLang="en-US" sz="1400" dirty="0"/>
                        <a:t>차 시연 </a:t>
                      </a:r>
                      <a:r>
                        <a:rPr lang="ko-KR" altLang="en-US" sz="1400" dirty="0" err="1"/>
                        <a:t>플로우차트에</a:t>
                      </a:r>
                      <a:r>
                        <a:rPr lang="ko-KR" altLang="en-US" sz="1400" dirty="0"/>
                        <a:t> 맞게 적용</a:t>
                      </a: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로봇 수용 가능 메모리 확인 必</a:t>
                      </a: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    &gt; </a:t>
                      </a:r>
                      <a:r>
                        <a:rPr lang="ko-KR" altLang="en-US" sz="1400" dirty="0"/>
                        <a:t>한번에 보낼 좌표 개수 정의</a:t>
                      </a: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    &gt; </a:t>
                      </a:r>
                      <a:r>
                        <a:rPr lang="ko-KR" altLang="en-US" sz="1400" dirty="0"/>
                        <a:t>전체 좌표 송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수신 </a:t>
                      </a:r>
                      <a:r>
                        <a:rPr lang="en-US" altLang="ko-KR" sz="1400" dirty="0"/>
                        <a:t>Time </a:t>
                      </a:r>
                      <a:r>
                        <a:rPr lang="ko-KR" altLang="en-US" sz="1400" dirty="0"/>
                        <a:t>측정</a:t>
                      </a: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에러 상황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좌표 추출 불가 등</a:t>
                      </a:r>
                      <a:r>
                        <a:rPr lang="en-US" altLang="ko-KR" sz="1400" dirty="0"/>
                        <a:t>) </a:t>
                      </a:r>
                      <a:r>
                        <a:rPr lang="ko-KR" altLang="en-US" sz="1400" dirty="0"/>
                        <a:t>대응</a:t>
                      </a:r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한맥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라온</a:t>
                      </a:r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셋업</a:t>
                      </a:r>
                      <a:r>
                        <a:rPr lang="en-US" altLang="ko-KR" sz="1400" dirty="0"/>
                        <a:t>&amp;</a:t>
                      </a:r>
                      <a:r>
                        <a:rPr lang="ko-KR" altLang="en-US" sz="1400" dirty="0"/>
                        <a:t>테스트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수신 좌표 확인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이동 테스트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축 값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jps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데이터 정상 송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수신 확인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위치 정합성 확인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송신 데이터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로봇 데이터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9/1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한맥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 라온</a:t>
                      </a:r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테스트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풀 시퀀스 테스트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9/1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/>
                        <a:t>한맥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ko-KR" altLang="en-US" sz="1400" b="0" dirty="0"/>
                        <a:t>라온</a:t>
                      </a:r>
                      <a:endParaRPr lang="en-US" altLang="ko-KR" sz="1400" b="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협의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시연 일정 수립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9/1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한맥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라온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대명</a:t>
                      </a:r>
                      <a:r>
                        <a:rPr lang="en-US" altLang="ko-KR" sz="1400" dirty="0"/>
                        <a:t>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135356"/>
                  </a:ext>
                </a:extLst>
              </a:tr>
              <a:tr h="306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협의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실러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제어 관련 협의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제어 방법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가능 방법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통신 기반 제어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통신 지연 문제 발생 가능성 有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제어 범위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토출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On/Off,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간섭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건 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후진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프로토콜 정의 및 프로그램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로봇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DTS)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구현 소요 시간 파악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9/1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한맥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라온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대명</a:t>
                      </a:r>
                      <a:r>
                        <a:rPr lang="en-US" altLang="ko-KR" sz="1400" dirty="0"/>
                        <a:t>TS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3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36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52622" y="65683"/>
            <a:ext cx="5665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예상 작업</a:t>
            </a:r>
            <a:endParaRPr lang="en-US" altLang="ko-KR" sz="2000" dirty="0">
              <a:ln>
                <a:solidFill>
                  <a:schemeClr val="tx1"/>
                </a:solidFill>
              </a:ln>
              <a:effectLst>
                <a:outerShdw blurRad="50800" dist="508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9EBA2FF-B7D6-4D06-AC42-D18994AF0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243787"/>
              </p:ext>
            </p:extLst>
          </p:nvPr>
        </p:nvGraphicFramePr>
        <p:xfrm>
          <a:off x="356586" y="702030"/>
          <a:ext cx="11478827" cy="23164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6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4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357">
                  <a:extLst>
                    <a:ext uri="{9D8B030D-6E8A-4147-A177-3AD203B41FA5}">
                      <a16:colId xmlns:a16="http://schemas.microsoft.com/office/drawing/2014/main" val="3557834803"/>
                    </a:ext>
                  </a:extLst>
                </a:gridCol>
                <a:gridCol w="3186626">
                  <a:extLst>
                    <a:ext uri="{9D8B030D-6E8A-4147-A177-3AD203B41FA5}">
                      <a16:colId xmlns:a16="http://schemas.microsoft.com/office/drawing/2014/main" val="2107200875"/>
                    </a:ext>
                  </a:extLst>
                </a:gridCol>
                <a:gridCol w="2150333">
                  <a:extLst>
                    <a:ext uri="{9D8B030D-6E8A-4147-A177-3AD203B41FA5}">
                      <a16:colId xmlns:a16="http://schemas.microsoft.com/office/drawing/2014/main" val="876538895"/>
                    </a:ext>
                  </a:extLst>
                </a:gridCol>
              </a:tblGrid>
              <a:tr h="228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NO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협의</a:t>
                      </a:r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프로토콜 협의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속도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가속도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로봇 동작 유형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제어를 위한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 현대 로봇 동작 유형 파악 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현대 로봇 속도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가속도 설정 가능 유무 파악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좌표 형식 추가에 대한 프로그램 수정 소요 기간 파악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 &gt; </a:t>
                      </a:r>
                      <a:r>
                        <a:rPr lang="ko-KR" altLang="en-US" sz="1400" dirty="0"/>
                        <a:t>현재 </a:t>
                      </a:r>
                      <a:r>
                        <a:rPr lang="en-US" altLang="ko-KR" sz="1400" dirty="0"/>
                        <a:t>: 1100,P_Cnt,J1,….J6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 &gt; </a:t>
                      </a:r>
                      <a:r>
                        <a:rPr lang="ko-KR" altLang="en-US" sz="1400" dirty="0"/>
                        <a:t>변경 예정 </a:t>
                      </a:r>
                      <a:r>
                        <a:rPr lang="en-US" altLang="ko-KR" sz="1400" dirty="0"/>
                        <a:t>: 1100,P_Cnt,J1,….J6,v1(</a:t>
                      </a:r>
                      <a:r>
                        <a:rPr lang="ko-KR" altLang="en-US" sz="1400" dirty="0"/>
                        <a:t>속도</a:t>
                      </a:r>
                      <a:r>
                        <a:rPr lang="en-US" altLang="ko-KR" sz="1400" dirty="0"/>
                        <a:t>),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a1(</a:t>
                      </a:r>
                      <a:r>
                        <a:rPr lang="ko-KR" altLang="en-US" sz="1400" dirty="0"/>
                        <a:t>가속도</a:t>
                      </a:r>
                      <a:r>
                        <a:rPr lang="en-US" altLang="ko-KR" sz="1400" dirty="0"/>
                        <a:t>),mt1(</a:t>
                      </a:r>
                      <a:r>
                        <a:rPr lang="ko-KR" altLang="en-US" sz="1400" dirty="0"/>
                        <a:t>동작유형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한맥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라온</a:t>
                      </a:r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05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52622" y="65683"/>
            <a:ext cx="5665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플로우 차트</a:t>
            </a:r>
            <a:r>
              <a:rPr lang="en-US" altLang="ko-KR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(1</a:t>
            </a:r>
            <a:r>
              <a:rPr lang="ko-KR" altLang="en-US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차 시연</a:t>
            </a:r>
            <a:r>
              <a:rPr lang="en-US" altLang="ko-KR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4982EC3D-33F0-4C1E-ABAE-200FFF15CADB}"/>
              </a:ext>
            </a:extLst>
          </p:cNvPr>
          <p:cNvGrpSpPr/>
          <p:nvPr/>
        </p:nvGrpSpPr>
        <p:grpSpPr>
          <a:xfrm>
            <a:off x="470521" y="669156"/>
            <a:ext cx="11250958" cy="5519687"/>
            <a:chOff x="679146" y="501591"/>
            <a:chExt cx="11250958" cy="5519687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0658C99-923D-42FF-BEE6-9A3D7F93D411}"/>
                </a:ext>
              </a:extLst>
            </p:cNvPr>
            <p:cNvSpPr/>
            <p:nvPr/>
          </p:nvSpPr>
          <p:spPr>
            <a:xfrm>
              <a:off x="1242874" y="1056443"/>
              <a:ext cx="1065320" cy="701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Start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41F141AD-BCFD-46BE-BD33-7B2CDCE48A86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34" y="1757779"/>
              <a:ext cx="0" cy="3728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BC17931-E0CF-4653-8EB2-4805B6432865}"/>
                </a:ext>
              </a:extLst>
            </p:cNvPr>
            <p:cNvSpPr/>
            <p:nvPr/>
          </p:nvSpPr>
          <p:spPr>
            <a:xfrm>
              <a:off x="679146" y="2130642"/>
              <a:ext cx="2192776" cy="7368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Connect (UDP)</a:t>
              </a:r>
            </a:p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Robot </a:t>
              </a:r>
              <a:r>
                <a:rPr lang="ko-KR" altLang="en-US" sz="1800" b="1" dirty="0">
                  <a:solidFill>
                    <a:schemeClr val="tx1"/>
                  </a:solidFill>
                </a:rPr>
                <a:t>↔ </a:t>
              </a:r>
              <a:r>
                <a:rPr lang="en-US" altLang="ko-KR" sz="1800" b="1" dirty="0">
                  <a:solidFill>
                    <a:schemeClr val="tx1"/>
                  </a:solidFill>
                </a:rPr>
                <a:t>DTS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373E157B-01E5-4357-A156-4ED4FCF49078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1786076" y="2869707"/>
              <a:ext cx="2026" cy="104756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10E52C6-F57D-4AC3-8F0A-2E9808A0125C}"/>
                </a:ext>
              </a:extLst>
            </p:cNvPr>
            <p:cNvSpPr/>
            <p:nvPr/>
          </p:nvSpPr>
          <p:spPr>
            <a:xfrm>
              <a:off x="691714" y="3917272"/>
              <a:ext cx="2192776" cy="7368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Trigger</a:t>
              </a:r>
            </a:p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Robot </a:t>
              </a:r>
              <a:r>
                <a:rPr lang="ko-KR" altLang="en-US" sz="1800" b="1" dirty="0">
                  <a:solidFill>
                    <a:schemeClr val="tx1"/>
                  </a:solidFill>
                </a:rPr>
                <a:t>→ </a:t>
              </a:r>
              <a:r>
                <a:rPr lang="en-US" altLang="ko-KR" sz="1800" b="1" dirty="0">
                  <a:solidFill>
                    <a:schemeClr val="tx1"/>
                  </a:solidFill>
                </a:rPr>
                <a:t>DTS</a:t>
              </a:r>
            </a:p>
          </p:txBody>
        </p:sp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5372E546-2F06-4943-82D8-97102C1D0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3007" y="1367164"/>
              <a:ext cx="1779613" cy="2925189"/>
            </a:xfrm>
            <a:prstGeom prst="bentConnector3">
              <a:avLst>
                <a:gd name="adj1" fmla="val 50998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901EFDE-E2DD-44C0-A268-0BDDCE44FB45}"/>
                </a:ext>
              </a:extLst>
            </p:cNvPr>
            <p:cNvSpPr/>
            <p:nvPr/>
          </p:nvSpPr>
          <p:spPr>
            <a:xfrm>
              <a:off x="4672620" y="998741"/>
              <a:ext cx="2192776" cy="73684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Program</a:t>
              </a:r>
              <a:br>
                <a:rPr lang="en-US" altLang="ko-KR" sz="1800" b="1" dirty="0">
                  <a:solidFill>
                    <a:schemeClr val="tx1"/>
                  </a:solidFill>
                </a:rPr>
              </a:br>
              <a:r>
                <a:rPr lang="en-US" altLang="ko-KR" sz="1800" b="1" dirty="0">
                  <a:solidFill>
                    <a:schemeClr val="tx1"/>
                  </a:solidFill>
                </a:rPr>
                <a:t>Run</a:t>
              </a:r>
            </a:p>
          </p:txBody>
        </p:sp>
        <p:sp>
          <p:nvSpPr>
            <p:cNvPr id="37" name="순서도: 판단 36">
              <a:extLst>
                <a:ext uri="{FF2B5EF4-FFF2-40B4-BE49-F238E27FC236}">
                  <a16:creationId xmlns:a16="http://schemas.microsoft.com/office/drawing/2014/main" id="{C3BE3A05-0C8C-49F4-9A8D-62EE2C159B64}"/>
                </a:ext>
              </a:extLst>
            </p:cNvPr>
            <p:cNvSpPr/>
            <p:nvPr/>
          </p:nvSpPr>
          <p:spPr>
            <a:xfrm>
              <a:off x="4601968" y="2554549"/>
              <a:ext cx="2334079" cy="874451"/>
            </a:xfrm>
            <a:prstGeom prst="flowChartDecision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dirty="0"/>
                <a:t>Valid Result?</a:t>
              </a:r>
              <a:endParaRPr lang="ko-KR" altLang="en-US" sz="1800" dirty="0"/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F25B7D33-E6B8-4B4B-BBFB-44F218E00D20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5761428" y="1757779"/>
              <a:ext cx="7580" cy="79677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3E9A085-B1FA-427C-A125-4FE841EA910F}"/>
                </a:ext>
              </a:extLst>
            </p:cNvPr>
            <p:cNvSpPr/>
            <p:nvPr/>
          </p:nvSpPr>
          <p:spPr>
            <a:xfrm>
              <a:off x="7243709" y="2723225"/>
              <a:ext cx="1009108" cy="559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dirty="0"/>
                <a:t>Success</a:t>
              </a:r>
              <a:endParaRPr lang="ko-KR" altLang="en-US" sz="1800" dirty="0"/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DBEA056-FAAC-486E-A8A3-032995064945}"/>
                </a:ext>
              </a:extLst>
            </p:cNvPr>
            <p:cNvCxnSpPr>
              <a:cxnSpLocks/>
              <a:endCxn id="40" idx="1"/>
            </p:cNvCxnSpPr>
            <p:nvPr/>
          </p:nvCxnSpPr>
          <p:spPr>
            <a:xfrm flipV="1">
              <a:off x="6585283" y="3002872"/>
              <a:ext cx="658426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D4895D1-0427-464B-8F70-7F71ADA83ABD}"/>
                </a:ext>
              </a:extLst>
            </p:cNvPr>
            <p:cNvSpPr/>
            <p:nvPr/>
          </p:nvSpPr>
          <p:spPr>
            <a:xfrm>
              <a:off x="5245596" y="4094824"/>
              <a:ext cx="1009108" cy="559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dirty="0"/>
                <a:t>Fail</a:t>
              </a:r>
              <a:endParaRPr lang="ko-KR" altLang="en-US" sz="1800" dirty="0"/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FA5D2720-5BFF-4B80-9984-E019101CE779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 flipH="1">
              <a:off x="5750150" y="3455639"/>
              <a:ext cx="1" cy="63918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7D8F8CA-5065-4669-93C5-CD7EFA519BF5}"/>
                </a:ext>
              </a:extLst>
            </p:cNvPr>
            <p:cNvSpPr/>
            <p:nvPr/>
          </p:nvSpPr>
          <p:spPr>
            <a:xfrm>
              <a:off x="9628205" y="501591"/>
              <a:ext cx="2269720" cy="7368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Send Pose</a:t>
              </a:r>
              <a:br>
                <a:rPr lang="en-US" altLang="ko-KR" sz="1800" b="1" dirty="0">
                  <a:solidFill>
                    <a:schemeClr val="tx1"/>
                  </a:solidFill>
                </a:rPr>
              </a:br>
              <a:r>
                <a:rPr lang="en-US" altLang="ko-KR" sz="1800" b="1" dirty="0">
                  <a:solidFill>
                    <a:schemeClr val="tx1"/>
                  </a:solidFill>
                </a:rPr>
                <a:t>DTS </a:t>
              </a:r>
              <a:r>
                <a:rPr lang="ko-KR" altLang="en-US" sz="1800" b="1" dirty="0">
                  <a:solidFill>
                    <a:schemeClr val="tx1"/>
                  </a:solidFill>
                </a:rPr>
                <a:t>→ </a:t>
              </a:r>
              <a:r>
                <a:rPr lang="en-US" altLang="ko-KR" sz="1800" b="1" dirty="0">
                  <a:solidFill>
                    <a:schemeClr val="tx1"/>
                  </a:solidFill>
                </a:rPr>
                <a:t>Robot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036DA490-34E3-456E-8404-E132D54DA50A}"/>
                </a:ext>
              </a:extLst>
            </p:cNvPr>
            <p:cNvSpPr/>
            <p:nvPr/>
          </p:nvSpPr>
          <p:spPr>
            <a:xfrm>
              <a:off x="5236347" y="5319942"/>
              <a:ext cx="1065320" cy="701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Stop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38A01FA1-8259-4357-A4C5-75803137A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9007" y="4667437"/>
              <a:ext cx="1" cy="63918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46743F6-8329-4DDB-8FD9-C91812917B10}"/>
                </a:ext>
              </a:extLst>
            </p:cNvPr>
            <p:cNvSpPr/>
            <p:nvPr/>
          </p:nvSpPr>
          <p:spPr>
            <a:xfrm>
              <a:off x="9628205" y="2130642"/>
              <a:ext cx="2269720" cy="7368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Pose Processing</a:t>
              </a:r>
              <a:br>
                <a:rPr lang="en-US" altLang="ko-KR" sz="1800" b="1" dirty="0">
                  <a:solidFill>
                    <a:schemeClr val="tx1"/>
                  </a:solidFill>
                </a:rPr>
              </a:br>
              <a:r>
                <a:rPr lang="en-US" altLang="ko-KR" sz="1800" b="1" dirty="0">
                  <a:solidFill>
                    <a:schemeClr val="tx1"/>
                  </a:solidFill>
                </a:rPr>
                <a:t>(Robot)</a:t>
              </a: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7BC4FF25-49DD-4685-8B32-86047F48E694}"/>
                </a:ext>
              </a:extLst>
            </p:cNvPr>
            <p:cNvCxnSpPr>
              <a:cxnSpLocks/>
            </p:cNvCxnSpPr>
            <p:nvPr/>
          </p:nvCxnSpPr>
          <p:spPr>
            <a:xfrm>
              <a:off x="10763065" y="1238437"/>
              <a:ext cx="0" cy="8922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연결선: 꺾임 68">
              <a:extLst>
                <a:ext uri="{FF2B5EF4-FFF2-40B4-BE49-F238E27FC236}">
                  <a16:creationId xmlns:a16="http://schemas.microsoft.com/office/drawing/2014/main" id="{40FC7E6E-5C76-4180-9CAC-98C54754C35C}"/>
                </a:ext>
              </a:extLst>
            </p:cNvPr>
            <p:cNvCxnSpPr>
              <a:cxnSpLocks/>
              <a:stCxn id="40" idx="0"/>
              <a:endCxn id="50" idx="1"/>
            </p:cNvCxnSpPr>
            <p:nvPr/>
          </p:nvCxnSpPr>
          <p:spPr>
            <a:xfrm rot="5400000" flipH="1" flipV="1">
              <a:off x="7761629" y="856649"/>
              <a:ext cx="1853211" cy="1879942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8A8C587E-3EE6-4C66-A8D2-7BC0CF3776BB}"/>
                </a:ext>
              </a:extLst>
            </p:cNvPr>
            <p:cNvCxnSpPr>
              <a:cxnSpLocks/>
            </p:cNvCxnSpPr>
            <p:nvPr/>
          </p:nvCxnSpPr>
          <p:spPr>
            <a:xfrm>
              <a:off x="10763065" y="2867488"/>
              <a:ext cx="0" cy="8922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순서도: 판단 76">
              <a:extLst>
                <a:ext uri="{FF2B5EF4-FFF2-40B4-BE49-F238E27FC236}">
                  <a16:creationId xmlns:a16="http://schemas.microsoft.com/office/drawing/2014/main" id="{C28D23B1-41BA-4400-A4BA-5AF98A5339D4}"/>
                </a:ext>
              </a:extLst>
            </p:cNvPr>
            <p:cNvSpPr/>
            <p:nvPr/>
          </p:nvSpPr>
          <p:spPr>
            <a:xfrm>
              <a:off x="9596025" y="3775231"/>
              <a:ext cx="2334079" cy="874451"/>
            </a:xfrm>
            <a:prstGeom prst="flowChartDecision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dirty="0"/>
                <a:t>Send All Pose?</a:t>
              </a:r>
              <a:endParaRPr lang="ko-KR" altLang="en-US" sz="1800" dirty="0"/>
            </a:p>
          </p:txBody>
        </p:sp>
        <p:cxnSp>
          <p:nvCxnSpPr>
            <p:cNvPr id="78" name="연결선: 꺾임 77">
              <a:extLst>
                <a:ext uri="{FF2B5EF4-FFF2-40B4-BE49-F238E27FC236}">
                  <a16:creationId xmlns:a16="http://schemas.microsoft.com/office/drawing/2014/main" id="{83E81AEC-6896-4980-B077-83C7704CBDBF}"/>
                </a:ext>
              </a:extLst>
            </p:cNvPr>
            <p:cNvCxnSpPr>
              <a:cxnSpLocks/>
              <a:stCxn id="92" idx="0"/>
            </p:cNvCxnSpPr>
            <p:nvPr/>
          </p:nvCxnSpPr>
          <p:spPr>
            <a:xfrm rot="5400000" flipH="1" flipV="1">
              <a:off x="7680846" y="2071094"/>
              <a:ext cx="2860829" cy="831529"/>
            </a:xfrm>
            <a:prstGeom prst="bentConnector3">
              <a:avLst>
                <a:gd name="adj1" fmla="val 100272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4302D5A-7B3C-4D69-B0DD-4CDF44B0720D}"/>
                </a:ext>
              </a:extLst>
            </p:cNvPr>
            <p:cNvSpPr/>
            <p:nvPr/>
          </p:nvSpPr>
          <p:spPr>
            <a:xfrm>
              <a:off x="8190942" y="3917272"/>
              <a:ext cx="1009108" cy="559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dirty="0"/>
                <a:t>No</a:t>
              </a:r>
              <a:endParaRPr lang="ko-KR" altLang="en-US" sz="1800" dirty="0"/>
            </a:p>
          </p:txBody>
        </p: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5C6E68FF-9B1A-40E9-9897-AFAC18AF5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3923" y="4212457"/>
              <a:ext cx="37322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33037C73-577E-4456-BD88-FA7A7FFC9865}"/>
                </a:ext>
              </a:extLst>
            </p:cNvPr>
            <p:cNvSpPr/>
            <p:nvPr/>
          </p:nvSpPr>
          <p:spPr>
            <a:xfrm>
              <a:off x="10258510" y="5390963"/>
              <a:ext cx="1009108" cy="559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800" dirty="0"/>
                <a:t>Yes</a:t>
              </a:r>
              <a:endParaRPr lang="ko-KR" altLang="en-US" sz="1800" dirty="0"/>
            </a:p>
          </p:txBody>
        </p:sp>
        <p:cxnSp>
          <p:nvCxnSpPr>
            <p:cNvPr id="103" name="직선 화살표 연결선 102">
              <a:extLst>
                <a:ext uri="{FF2B5EF4-FFF2-40B4-BE49-F238E27FC236}">
                  <a16:creationId xmlns:a16="http://schemas.microsoft.com/office/drawing/2014/main" id="{33CAD2F4-ACE4-40F0-8E2F-991FAD03498D}"/>
                </a:ext>
              </a:extLst>
            </p:cNvPr>
            <p:cNvCxnSpPr>
              <a:cxnSpLocks/>
              <a:stCxn id="77" idx="2"/>
              <a:endCxn id="102" idx="0"/>
            </p:cNvCxnSpPr>
            <p:nvPr/>
          </p:nvCxnSpPr>
          <p:spPr>
            <a:xfrm flipH="1">
              <a:off x="10763064" y="4649682"/>
              <a:ext cx="1" cy="74128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3EC69C6E-E829-42E5-8C17-A8E173F09A89}"/>
                </a:ext>
              </a:extLst>
            </p:cNvPr>
            <p:cNvSpPr/>
            <p:nvPr/>
          </p:nvSpPr>
          <p:spPr>
            <a:xfrm>
              <a:off x="7658282" y="5319942"/>
              <a:ext cx="1065320" cy="701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Robot</a:t>
              </a:r>
              <a:br>
                <a:rPr lang="en-US" altLang="ko-KR" sz="1600" dirty="0">
                  <a:solidFill>
                    <a:schemeClr val="tx1"/>
                  </a:solidFill>
                </a:rPr>
              </a:br>
              <a:r>
                <a:rPr lang="en-US" altLang="ko-KR" sz="1600" dirty="0">
                  <a:solidFill>
                    <a:schemeClr val="tx1"/>
                  </a:solidFill>
                </a:rPr>
                <a:t>Run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2BB8EC49-DC75-4358-B15A-1E84859DEC42}"/>
                </a:ext>
              </a:extLst>
            </p:cNvPr>
            <p:cNvCxnSpPr>
              <a:cxnSpLocks/>
              <a:stCxn id="102" idx="1"/>
              <a:endCxn id="108" idx="6"/>
            </p:cNvCxnSpPr>
            <p:nvPr/>
          </p:nvCxnSpPr>
          <p:spPr>
            <a:xfrm flipH="1">
              <a:off x="8723602" y="5670610"/>
              <a:ext cx="15349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373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52622" y="65683"/>
            <a:ext cx="5665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플로우 차트</a:t>
            </a:r>
            <a:r>
              <a:rPr lang="en-US" altLang="ko-KR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(1</a:t>
            </a:r>
            <a:r>
              <a:rPr lang="ko-KR" altLang="en-US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차 시연</a:t>
            </a:r>
            <a:r>
              <a:rPr lang="en-US" altLang="ko-KR" sz="2000" dirty="0">
                <a:ln>
                  <a:solidFill>
                    <a:schemeClr val="tx1"/>
                  </a:solidFill>
                </a:ln>
                <a:effectLst>
                  <a:outerShdw blurRad="50800"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4982EC3D-33F0-4C1E-ABAE-200FFF15CADB}"/>
              </a:ext>
            </a:extLst>
          </p:cNvPr>
          <p:cNvGrpSpPr/>
          <p:nvPr/>
        </p:nvGrpSpPr>
        <p:grpSpPr>
          <a:xfrm>
            <a:off x="470521" y="669156"/>
            <a:ext cx="11250958" cy="5519687"/>
            <a:chOff x="679146" y="501591"/>
            <a:chExt cx="11250958" cy="5519687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0658C99-923D-42FF-BEE6-9A3D7F93D411}"/>
                </a:ext>
              </a:extLst>
            </p:cNvPr>
            <p:cNvSpPr/>
            <p:nvPr/>
          </p:nvSpPr>
          <p:spPr>
            <a:xfrm>
              <a:off x="1242874" y="1056443"/>
              <a:ext cx="1065320" cy="701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시작</a:t>
              </a: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41F141AD-BCFD-46BE-BD33-7B2CDCE48A86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34" y="1757779"/>
              <a:ext cx="0" cy="3728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BC17931-E0CF-4653-8EB2-4805B6432865}"/>
                </a:ext>
              </a:extLst>
            </p:cNvPr>
            <p:cNvSpPr/>
            <p:nvPr/>
          </p:nvSpPr>
          <p:spPr>
            <a:xfrm>
              <a:off x="679146" y="2130642"/>
              <a:ext cx="2192776" cy="7368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800" b="1" dirty="0">
                  <a:solidFill>
                    <a:schemeClr val="tx1"/>
                  </a:solidFill>
                </a:rPr>
                <a:t>연결</a:t>
              </a:r>
              <a:r>
                <a:rPr lang="en-US" altLang="ko-KR" sz="1800" b="1" dirty="0">
                  <a:solidFill>
                    <a:schemeClr val="tx1"/>
                  </a:solidFill>
                </a:rPr>
                <a:t>(UDP)</a:t>
              </a:r>
              <a:br>
                <a:rPr lang="en-US" altLang="ko-KR" sz="1800" b="1" dirty="0">
                  <a:solidFill>
                    <a:schemeClr val="tx1"/>
                  </a:solidFill>
                </a:rPr>
              </a:br>
              <a:r>
                <a:rPr lang="ko-KR" altLang="en-US" sz="1800" b="1" dirty="0">
                  <a:solidFill>
                    <a:schemeClr val="tx1"/>
                  </a:solidFill>
                </a:rPr>
                <a:t>로봇 ↔ </a:t>
              </a:r>
              <a:r>
                <a:rPr lang="en-US" altLang="ko-KR" sz="1800" b="1" dirty="0">
                  <a:solidFill>
                    <a:schemeClr val="tx1"/>
                  </a:solidFill>
                </a:rPr>
                <a:t>DTS</a:t>
              </a:r>
              <a:endParaRPr lang="ko-KR" altLang="en-US" sz="1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373E157B-01E5-4357-A156-4ED4FCF49078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1786076" y="2869707"/>
              <a:ext cx="2026" cy="104756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10E52C6-F57D-4AC3-8F0A-2E9808A0125C}"/>
                </a:ext>
              </a:extLst>
            </p:cNvPr>
            <p:cNvSpPr/>
            <p:nvPr/>
          </p:nvSpPr>
          <p:spPr>
            <a:xfrm>
              <a:off x="691714" y="3917272"/>
              <a:ext cx="2192776" cy="7368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800" b="1" dirty="0">
                  <a:solidFill>
                    <a:schemeClr val="tx1"/>
                  </a:solidFill>
                </a:rPr>
                <a:t>시작 신호</a:t>
              </a:r>
              <a:endParaRPr lang="en-US" altLang="ko-KR" sz="18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800" b="1" dirty="0">
                  <a:solidFill>
                    <a:schemeClr val="tx1"/>
                  </a:solidFill>
                </a:rPr>
                <a:t>로봇 → </a:t>
              </a:r>
              <a:r>
                <a:rPr lang="en-US" altLang="ko-KR" sz="1800" b="1" dirty="0">
                  <a:solidFill>
                    <a:schemeClr val="tx1"/>
                  </a:solidFill>
                </a:rPr>
                <a:t>DTS</a:t>
              </a:r>
            </a:p>
          </p:txBody>
        </p:sp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5372E546-2F06-4943-82D8-97102C1D0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3007" y="1367164"/>
              <a:ext cx="1779613" cy="2925189"/>
            </a:xfrm>
            <a:prstGeom prst="bentConnector3">
              <a:avLst>
                <a:gd name="adj1" fmla="val 50998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901EFDE-E2DD-44C0-A268-0BDDCE44FB45}"/>
                </a:ext>
              </a:extLst>
            </p:cNvPr>
            <p:cNvSpPr/>
            <p:nvPr/>
          </p:nvSpPr>
          <p:spPr>
            <a:xfrm>
              <a:off x="4672620" y="998741"/>
              <a:ext cx="2192776" cy="73684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800" b="1" dirty="0">
                  <a:solidFill>
                    <a:schemeClr val="tx1"/>
                  </a:solidFill>
                </a:rPr>
                <a:t>프로그램 시작</a:t>
              </a:r>
              <a:endParaRPr lang="en-US" altLang="ko-KR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순서도: 판단 36">
              <a:extLst>
                <a:ext uri="{FF2B5EF4-FFF2-40B4-BE49-F238E27FC236}">
                  <a16:creationId xmlns:a16="http://schemas.microsoft.com/office/drawing/2014/main" id="{C3BE3A05-0C8C-49F4-9A8D-62EE2C159B64}"/>
                </a:ext>
              </a:extLst>
            </p:cNvPr>
            <p:cNvSpPr/>
            <p:nvPr/>
          </p:nvSpPr>
          <p:spPr>
            <a:xfrm>
              <a:off x="4601968" y="2554549"/>
              <a:ext cx="2334079" cy="874451"/>
            </a:xfrm>
            <a:prstGeom prst="flowChartDecision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800" dirty="0"/>
                <a:t>결과</a:t>
              </a:r>
              <a:r>
                <a:rPr lang="en-US" altLang="ko-KR" sz="1800" dirty="0"/>
                <a:t>?</a:t>
              </a:r>
              <a:endParaRPr lang="ko-KR" altLang="en-US" sz="1800" dirty="0"/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F25B7D33-E6B8-4B4B-BBFB-44F218E00D20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5761428" y="1757779"/>
              <a:ext cx="7580" cy="79677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3E9A085-B1FA-427C-A125-4FE841EA910F}"/>
                </a:ext>
              </a:extLst>
            </p:cNvPr>
            <p:cNvSpPr/>
            <p:nvPr/>
          </p:nvSpPr>
          <p:spPr>
            <a:xfrm>
              <a:off x="7243709" y="2723225"/>
              <a:ext cx="1009108" cy="559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800" dirty="0"/>
                <a:t>성공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DBEA056-FAAC-486E-A8A3-032995064945}"/>
                </a:ext>
              </a:extLst>
            </p:cNvPr>
            <p:cNvCxnSpPr>
              <a:cxnSpLocks/>
              <a:endCxn id="40" idx="1"/>
            </p:cNvCxnSpPr>
            <p:nvPr/>
          </p:nvCxnSpPr>
          <p:spPr>
            <a:xfrm flipV="1">
              <a:off x="6585283" y="3002872"/>
              <a:ext cx="658426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D4895D1-0427-464B-8F70-7F71ADA83ABD}"/>
                </a:ext>
              </a:extLst>
            </p:cNvPr>
            <p:cNvSpPr/>
            <p:nvPr/>
          </p:nvSpPr>
          <p:spPr>
            <a:xfrm>
              <a:off x="5245596" y="4094824"/>
              <a:ext cx="1009108" cy="559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800" dirty="0"/>
                <a:t>실패</a:t>
              </a: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FA5D2720-5BFF-4B80-9984-E019101CE779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 flipH="1">
              <a:off x="5750150" y="3455639"/>
              <a:ext cx="1" cy="63918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7D8F8CA-5065-4669-93C5-CD7EFA519BF5}"/>
                </a:ext>
              </a:extLst>
            </p:cNvPr>
            <p:cNvSpPr/>
            <p:nvPr/>
          </p:nvSpPr>
          <p:spPr>
            <a:xfrm>
              <a:off x="9628205" y="501591"/>
              <a:ext cx="2269720" cy="7368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800" b="1" dirty="0">
                  <a:solidFill>
                    <a:schemeClr val="tx1"/>
                  </a:solidFill>
                </a:rPr>
                <a:t>좌표 전달</a:t>
              </a:r>
              <a:endParaRPr lang="en-US" altLang="ko-KR" sz="18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DTS </a:t>
              </a:r>
              <a:r>
                <a:rPr lang="ko-KR" altLang="en-US" sz="1800" b="1" dirty="0">
                  <a:solidFill>
                    <a:schemeClr val="tx1"/>
                  </a:solidFill>
                </a:rPr>
                <a:t>→ 로봇</a:t>
              </a:r>
              <a:endParaRPr lang="en-US" altLang="ko-KR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036DA490-34E3-456E-8404-E132D54DA50A}"/>
                </a:ext>
              </a:extLst>
            </p:cNvPr>
            <p:cNvSpPr/>
            <p:nvPr/>
          </p:nvSpPr>
          <p:spPr>
            <a:xfrm>
              <a:off x="5236347" y="5319942"/>
              <a:ext cx="1065320" cy="701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중지</a:t>
              </a:r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38A01FA1-8259-4357-A4C5-75803137A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9007" y="4667437"/>
              <a:ext cx="1" cy="63918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46743F6-8329-4DDB-8FD9-C91812917B10}"/>
                </a:ext>
              </a:extLst>
            </p:cNvPr>
            <p:cNvSpPr/>
            <p:nvPr/>
          </p:nvSpPr>
          <p:spPr>
            <a:xfrm>
              <a:off x="9628205" y="2130642"/>
              <a:ext cx="2269720" cy="7368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800" b="1" dirty="0">
                  <a:solidFill>
                    <a:schemeClr val="tx1"/>
                  </a:solidFill>
                </a:rPr>
                <a:t>좌표 처리</a:t>
              </a:r>
              <a:endParaRPr lang="en-US" altLang="ko-KR" sz="18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800" b="1" dirty="0">
                  <a:solidFill>
                    <a:schemeClr val="tx1"/>
                  </a:solidFill>
                </a:rPr>
                <a:t>(</a:t>
              </a:r>
              <a:r>
                <a:rPr lang="ko-KR" altLang="en-US" sz="1800" b="1" dirty="0">
                  <a:solidFill>
                    <a:schemeClr val="tx1"/>
                  </a:solidFill>
                </a:rPr>
                <a:t>로봇</a:t>
              </a:r>
              <a:r>
                <a:rPr lang="en-US" altLang="ko-KR" sz="1800" b="1" dirty="0">
                  <a:solidFill>
                    <a:schemeClr val="tx1"/>
                  </a:solidFill>
                </a:rPr>
                <a:t>)</a:t>
              </a: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7BC4FF25-49DD-4685-8B32-86047F48E694}"/>
                </a:ext>
              </a:extLst>
            </p:cNvPr>
            <p:cNvCxnSpPr>
              <a:cxnSpLocks/>
            </p:cNvCxnSpPr>
            <p:nvPr/>
          </p:nvCxnSpPr>
          <p:spPr>
            <a:xfrm>
              <a:off x="10763065" y="1238437"/>
              <a:ext cx="0" cy="8922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연결선: 꺾임 68">
              <a:extLst>
                <a:ext uri="{FF2B5EF4-FFF2-40B4-BE49-F238E27FC236}">
                  <a16:creationId xmlns:a16="http://schemas.microsoft.com/office/drawing/2014/main" id="{40FC7E6E-5C76-4180-9CAC-98C54754C35C}"/>
                </a:ext>
              </a:extLst>
            </p:cNvPr>
            <p:cNvCxnSpPr>
              <a:cxnSpLocks/>
              <a:stCxn id="40" idx="0"/>
              <a:endCxn id="50" idx="1"/>
            </p:cNvCxnSpPr>
            <p:nvPr/>
          </p:nvCxnSpPr>
          <p:spPr>
            <a:xfrm rot="5400000" flipH="1" flipV="1">
              <a:off x="7761629" y="856649"/>
              <a:ext cx="1853211" cy="1879942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8A8C587E-3EE6-4C66-A8D2-7BC0CF3776BB}"/>
                </a:ext>
              </a:extLst>
            </p:cNvPr>
            <p:cNvCxnSpPr>
              <a:cxnSpLocks/>
            </p:cNvCxnSpPr>
            <p:nvPr/>
          </p:nvCxnSpPr>
          <p:spPr>
            <a:xfrm>
              <a:off x="10763065" y="2867488"/>
              <a:ext cx="0" cy="8922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순서도: 판단 76">
              <a:extLst>
                <a:ext uri="{FF2B5EF4-FFF2-40B4-BE49-F238E27FC236}">
                  <a16:creationId xmlns:a16="http://schemas.microsoft.com/office/drawing/2014/main" id="{C28D23B1-41BA-4400-A4BA-5AF98A5339D4}"/>
                </a:ext>
              </a:extLst>
            </p:cNvPr>
            <p:cNvSpPr/>
            <p:nvPr/>
          </p:nvSpPr>
          <p:spPr>
            <a:xfrm>
              <a:off x="9596025" y="3775231"/>
              <a:ext cx="2334079" cy="874451"/>
            </a:xfrm>
            <a:prstGeom prst="flowChartDecision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600" dirty="0"/>
                <a:t>모든 좌표 전달</a:t>
              </a:r>
              <a:r>
                <a:rPr lang="en-US" altLang="ko-KR" sz="1600" dirty="0"/>
                <a:t>?</a:t>
              </a:r>
              <a:endParaRPr lang="ko-KR" altLang="en-US" sz="1600" dirty="0"/>
            </a:p>
          </p:txBody>
        </p:sp>
        <p:cxnSp>
          <p:nvCxnSpPr>
            <p:cNvPr id="78" name="연결선: 꺾임 77">
              <a:extLst>
                <a:ext uri="{FF2B5EF4-FFF2-40B4-BE49-F238E27FC236}">
                  <a16:creationId xmlns:a16="http://schemas.microsoft.com/office/drawing/2014/main" id="{83E81AEC-6896-4980-B077-83C7704CBDBF}"/>
                </a:ext>
              </a:extLst>
            </p:cNvPr>
            <p:cNvCxnSpPr>
              <a:cxnSpLocks/>
              <a:stCxn id="92" idx="0"/>
            </p:cNvCxnSpPr>
            <p:nvPr/>
          </p:nvCxnSpPr>
          <p:spPr>
            <a:xfrm rot="5400000" flipH="1" flipV="1">
              <a:off x="7680846" y="2071094"/>
              <a:ext cx="2860829" cy="831529"/>
            </a:xfrm>
            <a:prstGeom prst="bentConnector3">
              <a:avLst>
                <a:gd name="adj1" fmla="val 100272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4302D5A-7B3C-4D69-B0DD-4CDF44B0720D}"/>
                </a:ext>
              </a:extLst>
            </p:cNvPr>
            <p:cNvSpPr/>
            <p:nvPr/>
          </p:nvSpPr>
          <p:spPr>
            <a:xfrm>
              <a:off x="8190942" y="3917272"/>
              <a:ext cx="1009108" cy="559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800" dirty="0"/>
                <a:t>아니요</a:t>
              </a:r>
            </a:p>
          </p:txBody>
        </p: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5C6E68FF-9B1A-40E9-9897-AFAC18AF5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3923" y="4212457"/>
              <a:ext cx="37322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33037C73-577E-4456-BD88-FA7A7FFC9865}"/>
                </a:ext>
              </a:extLst>
            </p:cNvPr>
            <p:cNvSpPr/>
            <p:nvPr/>
          </p:nvSpPr>
          <p:spPr>
            <a:xfrm>
              <a:off x="10258510" y="5390963"/>
              <a:ext cx="1009108" cy="559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800" dirty="0"/>
                <a:t>네</a:t>
              </a:r>
            </a:p>
          </p:txBody>
        </p:sp>
        <p:cxnSp>
          <p:nvCxnSpPr>
            <p:cNvPr id="103" name="직선 화살표 연결선 102">
              <a:extLst>
                <a:ext uri="{FF2B5EF4-FFF2-40B4-BE49-F238E27FC236}">
                  <a16:creationId xmlns:a16="http://schemas.microsoft.com/office/drawing/2014/main" id="{33CAD2F4-ACE4-40F0-8E2F-991FAD03498D}"/>
                </a:ext>
              </a:extLst>
            </p:cNvPr>
            <p:cNvCxnSpPr>
              <a:cxnSpLocks/>
              <a:stCxn id="77" idx="2"/>
              <a:endCxn id="102" idx="0"/>
            </p:cNvCxnSpPr>
            <p:nvPr/>
          </p:nvCxnSpPr>
          <p:spPr>
            <a:xfrm flipH="1">
              <a:off x="10763064" y="4649682"/>
              <a:ext cx="1" cy="74128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3EC69C6E-E829-42E5-8C17-A8E173F09A89}"/>
                </a:ext>
              </a:extLst>
            </p:cNvPr>
            <p:cNvSpPr/>
            <p:nvPr/>
          </p:nvSpPr>
          <p:spPr>
            <a:xfrm>
              <a:off x="7658282" y="5319942"/>
              <a:ext cx="1065320" cy="701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로봇</a:t>
              </a:r>
              <a:br>
                <a:rPr lang="en-US" altLang="ko-KR" sz="1600" dirty="0">
                  <a:solidFill>
                    <a:schemeClr val="tx1"/>
                  </a:solidFill>
                </a:rPr>
              </a:br>
              <a:r>
                <a:rPr lang="ko-KR" altLang="en-US" sz="1600" dirty="0">
                  <a:solidFill>
                    <a:schemeClr val="tx1"/>
                  </a:solidFill>
                </a:rPr>
                <a:t>동작</a:t>
              </a:r>
            </a:p>
          </p:txBody>
        </p:sp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2BB8EC49-DC75-4358-B15A-1E84859DEC42}"/>
                </a:ext>
              </a:extLst>
            </p:cNvPr>
            <p:cNvCxnSpPr>
              <a:cxnSpLocks/>
              <a:stCxn id="102" idx="1"/>
              <a:endCxn id="108" idx="6"/>
            </p:cNvCxnSpPr>
            <p:nvPr/>
          </p:nvCxnSpPr>
          <p:spPr>
            <a:xfrm flipH="1">
              <a:off x="8723602" y="5670610"/>
              <a:ext cx="15349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8097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5FCBE30-47F0-FAE6-3448-FA3CB8E448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85530" y="2032794"/>
            <a:ext cx="5792374" cy="2743523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0" y="0"/>
            <a:ext cx="5486400" cy="1970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728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4933</TotalTime>
  <Words>391</Words>
  <Application>Microsoft Office PowerPoint</Application>
  <PresentationFormat>와이드스크린</PresentationFormat>
  <Paragraphs>89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Jetson Nano</dc:title>
  <dc:creator>Hyun</dc:creator>
  <cp:lastModifiedBy>DJKIM</cp:lastModifiedBy>
  <cp:revision>442</cp:revision>
  <dcterms:created xsi:type="dcterms:W3CDTF">2021-08-23T02:08:10Z</dcterms:created>
  <dcterms:modified xsi:type="dcterms:W3CDTF">2025-08-29T10:34:50Z</dcterms:modified>
</cp:coreProperties>
</file>